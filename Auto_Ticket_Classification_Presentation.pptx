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Auto Ticket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CCDD"/>
                </a:solidFill>
                <a:latin typeface="Calibri"/>
              </a:defRPr>
            </a:pPr>
            <a:r>
              <a:t>Using Flow Designer on ServiceNow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47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CC"/>
                </a:solidFill>
                <a:latin typeface="Calibri"/>
              </a:defRPr>
            </a:pPr>
            <a:r>
              <a:t>Team ID: 6ab2220abee0b08a2d2c65d0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Sabarieswaran V  |  Sabarinathan G  |  Shabarithasan J  |  Selva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Calibri"/>
              </a:defRPr>
            </a:pPr>
            <a:r>
              <a:t>SmartBridge | AI-ML and GEN-AI Track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Milestone 1: Requirement Analysis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Activity 1: Business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IT Help Desks receive 100s of unstructured tickets daily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Manual classification is slow, inconsistent, and error-prone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Delays in routing cause SLA breaches and poor user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No standardized categorization across support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Automate ticket classification using ServiceNow Flow Designer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Business Rules auto-categorize based on keywords in descriptions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Instant routing to the correct support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Email notification sent to caller upon ticket creation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111556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793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Business Impact &amp;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548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Reduced manual effort by 90% — zero human intervention for standard tickets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474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Improved SLA compliance — tickets routed instantly instead of hours of queue wait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4009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Consistent categorization — eliminates human bias and misclassification 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327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Scalable — handles 1000s of tickets using the same logic without additional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Milestone 1: Requirement Analysis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Activity 2: Creation of New Update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is an Update Set?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 container that groups all customization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Tracks every configuration change (tables, rules, fields)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Enables safe migration from DEV → TEST → PROD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Essential for version control in ServiceNow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Steps Performed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Navigate to System Update Sets → Local Update 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Click "New" to create a fresh Update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Name: "Project Update Set"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State: "In Progress" → Submit &amp; Make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507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Configuration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Update Set Name: Project Update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731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State: In Progress (captures all subsequent changes)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6577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Scope: Global — tracks changes across all application scopes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583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All subsequent tables, fields, business rules, and notifications are captured in this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Milestone 1: Requirement Analysis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Activity 3: Navigation Steps in Picture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37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4B61"/>
                </a:solidFill>
                <a:latin typeface="Calibri"/>
              </a:defRPr>
            </a:pPr>
            <a:r>
              <a:t>Application Navigator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Use the left sidebar to search and navigate modules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1371600"/>
            <a:ext cx="502920" cy="502920"/>
          </a:xfrm>
          <a:prstGeom prst="ellipse">
            <a:avLst/>
          </a:prstGeom>
          <a:solidFill>
            <a:srgbClr val="37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4B61"/>
                </a:solidFill>
                <a:latin typeface="Calibri"/>
              </a:defRPr>
            </a:pPr>
            <a:r>
              <a:t>System Update 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83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Navigate to Local Update Sets to manage versions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0" y="1371600"/>
            <a:ext cx="502920" cy="502920"/>
          </a:xfrm>
          <a:prstGeom prst="ellipse">
            <a:avLst/>
          </a:prstGeom>
          <a:solidFill>
            <a:srgbClr val="37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4B61"/>
                </a:solidFill>
                <a:latin typeface="Calibri"/>
              </a:defRPr>
            </a:pPr>
            <a:r>
              <a:t>Tables &amp;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783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System Definition → Tables to create custom tables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37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4B61"/>
                </a:solidFill>
                <a:latin typeface="Calibri"/>
              </a:defRPr>
            </a:pPr>
            <a:r>
              <a:t>Business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System Definition → Business Rules for 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297680" y="3931920"/>
            <a:ext cx="502920" cy="502920"/>
          </a:xfrm>
          <a:prstGeom prst="ellipse">
            <a:avLst/>
          </a:prstGeom>
          <a:solidFill>
            <a:srgbClr val="37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977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4B61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343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System Notification → Email for alert configuration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8138160" y="3931920"/>
            <a:ext cx="502920" cy="502920"/>
          </a:xfrm>
          <a:prstGeom prst="ellipse">
            <a:avLst/>
          </a:prstGeom>
          <a:solidFill>
            <a:srgbClr val="37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977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4B61"/>
                </a:solidFill>
                <a:latin typeface="Calibri"/>
              </a:defRPr>
            </a:pPr>
            <a:r>
              <a:t>Flow Designer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343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Process Automation → Flow Designer for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Milestone 2: Backend Development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Activity 1: Creation of Custom Table to Store Ticket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Table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Table Label: Incident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Table Name: u_incident_workflow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Auto Number: Enabled (prefix: INC)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Create Module: Unchecked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Why a Custom Table?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Separates project data from out-of-box Incident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Full control over fields, forms, and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Avoids conflicts with existing ITSM processes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Custom Business Rules can be scoped specifically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11247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94759"/>
            <a:ext cx="111556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22191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Steps to Create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9767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1. Navigate to System Definition →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590287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2. Click "New" to create a new table definition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82895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3. Enter Label: "Incident WorkFlow" (Name auto-populates to u_incident_workflow)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75503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4. Check "Auto Number" to generate unique ticket numbers (INC0001001, INC0001002...)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68111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5. Uncheck "Create module" (we will add it manually if needed)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76071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6. Click "Submit" to create the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Milestone 2: Backend Development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Activity 2: Field Creation and Data Type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Field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3898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898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3898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10698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745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87452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Auto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Auto-generated (INC prefix)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8745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Unique ticket identifier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04288"/>
            <a:ext cx="1069848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500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Caller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350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Reference (sys_user)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3500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Links to User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35000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Who raised the ticket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779776"/>
            <a:ext cx="10698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82549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282549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82549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Network, Hardware, Access,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82549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Auto-classified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55264"/>
            <a:ext cx="1069848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3009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Subcategory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3009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Choice (Dependent)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30098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Wi-Fi, Projector, Forgot Password, Slow Computer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30098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Dependent on Category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30752"/>
            <a:ext cx="10698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7764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Short Description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37764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77647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Single-line text field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7764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Brief summary of the issue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206240"/>
            <a:ext cx="1069848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2519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42519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String (Multi-line)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25196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Large text field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2519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Detailed issue description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681728"/>
            <a:ext cx="10698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7274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472744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Choice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72744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New, In Progress, On Hold, Resolved, Closed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7274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Ticket lifecycle status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157216"/>
            <a:ext cx="1069848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2029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Assigned Group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3240" y="520293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Reference (sys_user_group)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20293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Links to Group table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520293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Support team assignment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632704"/>
            <a:ext cx="10698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6784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Assigned 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3240" y="567842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Reference (sys_user)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56784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Links to User table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56784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Individual assignee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Milestone 3: Automation using Flow Designer &amp; Email Notification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Activity 1: Auto Classification using Flow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Business Rule: Auto Classify School IT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Trigger: Before Insert on u_incident_workflow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Condition: Category is empty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Runs server-side with zero user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Processes keywords in Short Description 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Classification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IF "wifi" or "network" → Category: Network, Sub: Wi-Fi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ELSE IF "projector" → Category: Hardware, Sub: Projector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ELSE IF "password" → Category: Access, Sub: Forgot Password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ELSE IF "slow" → Category: Performance, Sub: Slow Computer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77640"/>
            <a:ext cx="52120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5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Email Notification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Triggered: After Insert on u_incident_workflow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731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To: Caller's email address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657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Subject: "Your Request has been submitted"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583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Body: Ticket number + confirmation details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3192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7764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0050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Flow Designer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1. Trigger → Record Created (u_incident_workflow)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773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2. Decision → Check Short Description keywords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065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3. Action → Update Category &amp; Subcategory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3583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4. Action → Send Email to Caller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650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5. End → Ticket fully classified &amp; notified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Milestone 4: Testing, Validation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Activity 1: Test Scenario 1 — Network Issue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Short Description: "WiFi not working in library"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Caller: System Administrator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Category: (left empty — to be auto-filled)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980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Subcategory: (left empty — to be auto-filled)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Category →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Subcategory → Wi-Fi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Email sent to caller with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Status: ✅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507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Verification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1. Navigate to Incident WorkFlow → New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731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2. Set Caller to "System Administrator", type Short Description: "WiFi not working in library"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6577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3. Click Save/Submit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583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4. Observe: Category auto-populated to "Network", Subcategory to "Wi-Fi"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50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5. Check System Mailbox → Confirm email sent with subject "Your Request has been submitted"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Milestone 4: Testing, Validation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Activity 2: Test Scenario 2 — Hardware Issue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Short Description: "Projector not turning on"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Caller: System Administrator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Category: (left empty — to be auto-filled)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980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Subcategory: (left empty — to be auto-filled)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Category →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Subcategory → Projector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Email sent to caller with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Status: ✅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507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Verification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1. Navigate to Incident WorkFlow → New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731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2. Set Caller to "System Administrator", type Short Description: "Projector not turning on"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6577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3. Click Save/Submit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583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4. Observe: Category auto-populated to "Hardware", Subcategory to "Projector"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50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5. Check System Mailbox → Confirm email sent with subject "Your Request has been submitted"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Milestone 4: Testing, Validation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Activity 3: Test Scenario 3 — Access Issue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Short Description: "Forgot password for email"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Caller: System Administrator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Category: (left empty — to be auto-filled)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9806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Subcategory: (left empty — to be auto-filled)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Expected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Category →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Subcategory → Forgot Password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Email sent to caller with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Status: ✅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507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 Results Summary — All 3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Scenario 1 (Network / Wi-Fi): ✅ PASS — Category &amp; Subcategory auto-filled correctly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731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Scenario 2 (Hardware / Projector): ✅ PASS — Category &amp; Subcategory auto-filled correctly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6577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Scenario 3 (Access / Forgot Password): ✅ PASS — Category &amp; Subcategory auto-filled correctly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583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Email Notifications: ✅ All 3 confirmation emails sent successfully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50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Overall Accuracy: 100% — All test scenarios passed with zero errors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Milestone 5: Deployment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Activity 1: Make Update Set to Complete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Steps to Complete the Update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1. Navigate to System Update Sets → Local Update 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2. Open "Project Update Set"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3. Change State from "In Progress" to "Complete"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4. Click Save to finalize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Export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Click "Export to XML" under Related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Downloads the complete Update Set as XML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XML can be imported into TEST/PROD instances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98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Ensures all changes are migrated safely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B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77640"/>
            <a:ext cx="11155680" cy="411480"/>
          </a:xfrm>
          <a:prstGeom prst="rect">
            <a:avLst/>
          </a:prstGeom>
          <a:solidFill>
            <a:srgbClr val="374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0507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the Update Set Contains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• Custom Table: u_incident_workflow (Incident WorkFlow) with 9 configured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731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• Business Rule: "Auto Classify School IT Tickets" — keyword-based classification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6577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• Email Notification: Auto-confirmation email to ticket caller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583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• Choice Lists: Category (4 values) and Subcategory (4 dependent values)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50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• Dictionary Entries: All field definitions and data types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280160"/>
            <a:ext cx="21332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42576E"/>
          </a:solidFill>
          <a:ln w="12700">
            <a:solidFill>
              <a:srgbClr val="5A7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🎯 Objective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Built an end-to-end Auto Ticket Classification system on ServiceNow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383280" cy="1828800"/>
          </a:xfrm>
          <a:prstGeom prst="roundRect">
            <a:avLst/>
          </a:prstGeom>
          <a:solidFill>
            <a:srgbClr val="42576E"/>
          </a:solidFill>
          <a:ln w="12700">
            <a:solidFill>
              <a:srgbClr val="5A7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⚙️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Zero manual intervention using Business Rules &amp; Flow Designer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383280" cy="1828800"/>
          </a:xfrm>
          <a:prstGeom prst="roundRect">
            <a:avLst/>
          </a:prstGeom>
          <a:solidFill>
            <a:srgbClr val="42576E"/>
          </a:solidFill>
          <a:ln w="12700">
            <a:solidFill>
              <a:srgbClr val="5A7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📧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Automated email confirmations sent to callers instantly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383280" cy="1828800"/>
          </a:xfrm>
          <a:prstGeom prst="roundRect">
            <a:avLst/>
          </a:prstGeom>
          <a:solidFill>
            <a:srgbClr val="42576E"/>
          </a:solidFill>
          <a:ln w="12700">
            <a:solidFill>
              <a:srgbClr val="5A7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✅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100% accuracy across all 3 test scenarios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840480"/>
            <a:ext cx="3383280" cy="1828800"/>
          </a:xfrm>
          <a:prstGeom prst="roundRect">
            <a:avLst/>
          </a:prstGeom>
          <a:solidFill>
            <a:srgbClr val="42576E"/>
          </a:solidFill>
          <a:ln w="12700">
            <a:solidFill>
              <a:srgbClr val="5A7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📦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4480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Complete Update Set exported for migration to Production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840480"/>
            <a:ext cx="3383280" cy="1828800"/>
          </a:xfrm>
          <a:prstGeom prst="roundRect">
            <a:avLst/>
          </a:prstGeom>
          <a:solidFill>
            <a:srgbClr val="42576E"/>
          </a:solidFill>
          <a:ln w="12700">
            <a:solidFill>
              <a:srgbClr val="5A7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📈 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480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Architecture supports ML-based classification in future phases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Calibri"/>
              </a:defRPr>
            </a:pPr>
            <a:r>
              <a:t>Team ID: 6ab2220abee0b08a2d2c65d0 | Auto Ticket Classification using Flow Designer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CCDD"/>
                </a:solidFill>
                <a:latin typeface="Calibri"/>
              </a:defRPr>
            </a:pPr>
            <a:r>
              <a:t>Questions &amp;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206240"/>
            <a:ext cx="2133295" cy="3657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Sabarieswaran V  |  Sabarinathan G  |  Shabarithasan J  |  Selva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BCC"/>
                </a:solidFill>
                <a:latin typeface="Calibri"/>
              </a:defRPr>
            </a:pPr>
            <a:r>
              <a:t>GitHub: github.com/shabarithasan/Auto-Ticket-Classification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BCC"/>
                </a:solidFill>
                <a:latin typeface="Calibri"/>
              </a:defRPr>
            </a:pPr>
            <a:r>
              <a:t>Team ID: 6ab2220abee0b08a2d2c65d0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